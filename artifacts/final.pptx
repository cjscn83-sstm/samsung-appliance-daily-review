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7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8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Sentiment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7C66"/>
              </a:solidFill>
              <a:effectLst/>
            </c:spPr>
          </c:dPt>
          <c:dPt>
            <c:idx val="1"/>
            <c:bubble3D val="0"/>
            <c:spPr>
              <a:solidFill>
                <a:srgbClr val="B7791F"/>
              </a:solidFill>
              <a:effectLst/>
            </c:spPr>
          </c:dPt>
          <c:dPt>
            <c:idx val="2"/>
            <c:bubble3D val="0"/>
            <c:spPr>
              <a:solidFill>
                <a:srgbClr val="C0392B"/>
              </a:solidFill>
              <a:effectLst/>
            </c:spPr>
          </c:dPt>
          <c:dPt>
            <c:idx val="3"/>
            <c:bubble3D val="0"/>
            <c:spPr>
              <a:solidFill>
                <a:srgbClr val="52606D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긍정</c:v>
                </c:pt>
                <c:pt idx="1">
                  <c:v>혼합</c:v>
                </c:pt>
                <c:pt idx="2">
                  <c:v>부정</c:v>
                </c:pt>
                <c:pt idx="3">
                  <c:v>근거부족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87</c:v>
                </c:pt>
                <c:pt idx="1">
                  <c:v>13</c:v>
                </c:pt>
                <c:pt idx="2">
                  <c:v>2</c:v>
                </c:pt>
                <c:pt idx="3">
                  <c:v>15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긍정</c:v>
                </c:pt>
              </c:strCache>
            </c:strRef>
          </c:tx>
          <c:spPr>
            <a:solidFill>
              <a:srgbClr val="0E7C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TV</c:v>
                  </c:pt>
                  <c:pt idx="1">
                    <c:v>모니터</c:v>
                  </c:pt>
                  <c:pt idx="2">
                    <c:v>사운드/오디오</c:v>
                  </c:pt>
                  <c:pt idx="3">
                    <c:v>프로젝터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5</c:v>
                </c:pt>
                <c:pt idx="2">
                  <c:v>3</c:v>
                </c:pt>
                <c:pt idx="3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혼합</c:v>
                </c:pt>
              </c:strCache>
            </c:strRef>
          </c:tx>
          <c:spPr>
            <a:solidFill>
              <a:srgbClr val="B779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TV</c:v>
                  </c:pt>
                  <c:pt idx="1">
                    <c:v>모니터</c:v>
                  </c:pt>
                  <c:pt idx="2">
                    <c:v>사운드/오디오</c:v>
                  </c:pt>
                  <c:pt idx="3">
                    <c:v>프로젝터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부정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TV</c:v>
                  </c:pt>
                  <c:pt idx="1">
                    <c:v>모니터</c:v>
                  </c:pt>
                  <c:pt idx="2">
                    <c:v>사운드/오디오</c:v>
                  </c:pt>
                  <c:pt idx="3">
                    <c:v>프로젝터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근거부족</c:v>
                </c:pt>
              </c:strCache>
            </c:strRef>
          </c:tx>
          <c:spPr>
            <a:solidFill>
              <a:srgbClr val="52606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TV</c:v>
                  </c:pt>
                  <c:pt idx="1">
                    <c:v>모니터</c:v>
                  </c:pt>
                  <c:pt idx="2">
                    <c:v>사운드/오디오</c:v>
                  </c:pt>
                  <c:pt idx="3">
                    <c:v>프로젝터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긍정</c:v>
                </c:pt>
              </c:strCache>
            </c:strRef>
          </c:tx>
          <c:spPr>
            <a:solidFill>
              <a:srgbClr val="0E7C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냉장고</c:v>
                  </c:pt>
                  <c:pt idx="1">
                    <c:v>김치냉장고</c:v>
                  </c:pt>
                  <c:pt idx="2">
                    <c:v>인덕션</c:v>
                  </c:pt>
                  <c:pt idx="3">
                    <c:v>식기세척기</c:v>
                  </c:pt>
                  <c:pt idx="4">
                    <c:v>정수기</c:v>
                  </c:pt>
                  <c:pt idx="5">
                    <c:v>큐커/오븐</c:v>
                  </c:pt>
                  <c:pt idx="6">
                    <c:v>전자레인지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</c:v>
                </c:pt>
                <c:pt idx="1">
                  <c:v>5</c:v>
                </c:pt>
                <c:pt idx="2">
                  <c:v>4</c:v>
                </c:pt>
                <c:pt idx="3">
                  <c:v>4</c:v>
                </c:pt>
                <c:pt idx="4">
                  <c:v>2</c:v>
                </c:pt>
                <c:pt idx="5">
                  <c:v>5</c:v>
                </c:pt>
                <c:pt idx="6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혼합</c:v>
                </c:pt>
              </c:strCache>
            </c:strRef>
          </c:tx>
          <c:spPr>
            <a:solidFill>
              <a:srgbClr val="B779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냉장고</c:v>
                  </c:pt>
                  <c:pt idx="1">
                    <c:v>김치냉장고</c:v>
                  </c:pt>
                  <c:pt idx="2">
                    <c:v>인덕션</c:v>
                  </c:pt>
                  <c:pt idx="3">
                    <c:v>식기세척기</c:v>
                  </c:pt>
                  <c:pt idx="4">
                    <c:v>정수기</c:v>
                  </c:pt>
                  <c:pt idx="5">
                    <c:v>큐커/오븐</c:v>
                  </c:pt>
                  <c:pt idx="6">
                    <c:v>전자레인지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부정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냉장고</c:v>
                  </c:pt>
                  <c:pt idx="1">
                    <c:v>김치냉장고</c:v>
                  </c:pt>
                  <c:pt idx="2">
                    <c:v>인덕션</c:v>
                  </c:pt>
                  <c:pt idx="3">
                    <c:v>식기세척기</c:v>
                  </c:pt>
                  <c:pt idx="4">
                    <c:v>정수기</c:v>
                  </c:pt>
                  <c:pt idx="5">
                    <c:v>큐커/오븐</c:v>
                  </c:pt>
                  <c:pt idx="6">
                    <c:v>전자레인지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근거부족</c:v>
                </c:pt>
              </c:strCache>
            </c:strRef>
          </c:tx>
          <c:spPr>
            <a:solidFill>
              <a:srgbClr val="52606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냉장고</c:v>
                  </c:pt>
                  <c:pt idx="1">
                    <c:v>김치냉장고</c:v>
                  </c:pt>
                  <c:pt idx="2">
                    <c:v>인덕션</c:v>
                  </c:pt>
                  <c:pt idx="3">
                    <c:v>식기세척기</c:v>
                  </c:pt>
                  <c:pt idx="4">
                    <c:v>정수기</c:v>
                  </c:pt>
                  <c:pt idx="5">
                    <c:v>큐커/오븐</c:v>
                  </c:pt>
                  <c:pt idx="6">
                    <c:v>전자레인지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1</c:v>
                </c:pt>
                <c:pt idx="1">
                  <c:v>0</c:v>
                </c:pt>
                <c:pt idx="2">
                  <c:v>1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긍정</c:v>
                </c:pt>
              </c:strCache>
            </c:strRef>
          </c:tx>
          <c:spPr>
            <a:solidFill>
              <a:srgbClr val="0E7C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세탁기/건조기</c:v>
                  </c:pt>
                  <c:pt idx="1">
                    <c:v>청소기</c:v>
                  </c:pt>
                  <c:pt idx="2">
                    <c:v>에어컨(일반)</c:v>
                  </c:pt>
                  <c:pt idx="3">
                    <c:v>의류관리기</c:v>
                  </c:pt>
                  <c:pt idx="4">
                    <c:v>공기청정기</c:v>
                  </c:pt>
                  <c:pt idx="5">
                    <c:v>제습기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</c:v>
                </c:pt>
                <c:pt idx="1">
                  <c:v>11</c:v>
                </c:pt>
                <c:pt idx="2">
                  <c:v>7</c:v>
                </c:pt>
                <c:pt idx="3">
                  <c:v>4</c:v>
                </c:pt>
                <c:pt idx="4">
                  <c:v>4</c:v>
                </c:pt>
                <c:pt idx="5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혼합</c:v>
                </c:pt>
              </c:strCache>
            </c:strRef>
          </c:tx>
          <c:spPr>
            <a:solidFill>
              <a:srgbClr val="B779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세탁기/건조기</c:v>
                  </c:pt>
                  <c:pt idx="1">
                    <c:v>청소기</c:v>
                  </c:pt>
                  <c:pt idx="2">
                    <c:v>에어컨(일반)</c:v>
                  </c:pt>
                  <c:pt idx="3">
                    <c:v>의류관리기</c:v>
                  </c:pt>
                  <c:pt idx="4">
                    <c:v>공기청정기</c:v>
                  </c:pt>
                  <c:pt idx="5">
                    <c:v>제습기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부정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세탁기/건조기</c:v>
                  </c:pt>
                  <c:pt idx="1">
                    <c:v>청소기</c:v>
                  </c:pt>
                  <c:pt idx="2">
                    <c:v>에어컨(일반)</c:v>
                  </c:pt>
                  <c:pt idx="3">
                    <c:v>의류관리기</c:v>
                  </c:pt>
                  <c:pt idx="4">
                    <c:v>공기청정기</c:v>
                  </c:pt>
                  <c:pt idx="5">
                    <c:v>제습기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근거부족</c:v>
                </c:pt>
              </c:strCache>
            </c:strRef>
          </c:tx>
          <c:spPr>
            <a:solidFill>
              <a:srgbClr val="52606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세탁기/건조기</c:v>
                  </c:pt>
                  <c:pt idx="1">
                    <c:v>청소기</c:v>
                  </c:pt>
                  <c:pt idx="2">
                    <c:v>에어컨(일반)</c:v>
                  </c:pt>
                  <c:pt idx="3">
                    <c:v>의류관리기</c:v>
                  </c:pt>
                  <c:pt idx="4">
                    <c:v>공기청정기</c:v>
                  </c:pt>
                  <c:pt idx="5">
                    <c:v>제습기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7C66"/>
              </a:solidFill>
              <a:effectLst/>
            </c:spPr>
          </c:dPt>
          <c:dPt>
            <c:idx val="1"/>
            <c:bubble3D val="0"/>
            <c:spPr>
              <a:solidFill>
                <a:srgbClr val="B7791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긍정</c:v>
                </c:pt>
                <c:pt idx="1">
                  <c:v>혼합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혼합 키워드</c:v>
                </c:pt>
              </c:strCache>
            </c:strRef>
          </c:tx>
          <c:spPr>
            <a:solidFill>
              <a:srgbClr val="B779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가격 부담</c:v>
                  </c:pt>
                  <c:pt idx="1">
                    <c:v>소음</c:v>
                  </c:pt>
                  <c:pt idx="2">
                    <c:v>리모컨 불편</c:v>
                  </c:pt>
                  <c:pt idx="3">
                    <c:v>빌트인 공간</c:v>
                  </c:pt>
                  <c:pt idx="4">
                    <c:v>고사양 부족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</c:v>
                </c:pt>
                <c:pt idx="1">
                  <c:v>3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긍정 키워드 빈도</c:v>
                </c:pt>
              </c:strCache>
            </c:strRef>
          </c:tx>
          <c:spPr>
            <a:solidFill>
              <a:srgbClr val="0E7C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디자인 (TV·냉장고·청소기·제습기)</c:v>
                  </c:pt>
                  <c:pt idx="1">
                    <c:v>AI / AI 기능</c:v>
                  </c:pt>
                  <c:pt idx="2">
                    <c:v>만족</c:v>
                  </c:pt>
                  <c:pt idx="3">
                    <c:v>무풍 (에어컨·공기청정기)</c:v>
                  </c:pt>
                  <c:pt idx="4">
                    <c:v>1등급 / 에너지 효율</c:v>
                  </c:pt>
                  <c:pt idx="5">
                    <c:v>4K / 화질</c:v>
                  </c:pt>
                  <c:pt idx="6">
                    <c:v>비스포크 / 색상</c:v>
                  </c:pt>
                  <c:pt idx="7">
                    <c:v>대용량 / 공간 활용</c:v>
                  </c:pt>
                  <c:pt idx="8">
                    <c:v>가성비 / 합리적</c:v>
                  </c:pt>
                  <c:pt idx="9">
                    <c:v>쾌적 / 조용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</c:v>
                </c:pt>
                <c:pt idx="1">
                  <c:v>14</c:v>
                </c:pt>
                <c:pt idx="2">
                  <c:v>13</c:v>
                </c:pt>
                <c:pt idx="3">
                  <c:v>10</c:v>
                </c:pt>
                <c:pt idx="4">
                  <c:v>9</c:v>
                </c:pt>
                <c:pt idx="5">
                  <c:v>8</c:v>
                </c:pt>
                <c:pt idx="6">
                  <c:v>8</c:v>
                </c:pt>
                <c:pt idx="7">
                  <c:v>7</c:v>
                </c:pt>
                <c:pt idx="8">
                  <c:v>6</c:v>
                </c:pt>
                <c:pt idx="9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광고 의심 %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전자레인지</c:v>
                  </c:pt>
                  <c:pt idx="1">
                    <c:v>사운드/오디오</c:v>
                  </c:pt>
                  <c:pt idx="2">
                    <c:v>냉장고</c:v>
                  </c:pt>
                  <c:pt idx="3">
                    <c:v>TV</c:v>
                  </c:pt>
                  <c:pt idx="4">
                    <c:v>세탁기/건조기</c:v>
                  </c:pt>
                  <c:pt idx="5">
                    <c:v>공기청정기</c:v>
                  </c:pt>
                  <c:pt idx="6">
                    <c:v>김치냉장고</c:v>
                  </c:pt>
                  <c:pt idx="7">
                    <c:v>청소기</c:v>
                  </c:pt>
                  <c:pt idx="8">
                    <c:v>모니터</c:v>
                  </c:pt>
                  <c:pt idx="9">
                    <c:v>인덕션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</c:v>
                </c:pt>
                <c:pt idx="1">
                  <c:v>100</c:v>
                </c:pt>
                <c:pt idx="2">
                  <c:v>85</c:v>
                </c:pt>
                <c:pt idx="3">
                  <c:v>80</c:v>
                </c:pt>
                <c:pt idx="4">
                  <c:v>77</c:v>
                </c:pt>
                <c:pt idx="5">
                  <c:v>75</c:v>
                </c:pt>
                <c:pt idx="6">
                  <c:v>71</c:v>
                </c:pt>
                <c:pt idx="7">
                  <c:v>67</c:v>
                </c:pt>
                <c:pt idx="8">
                  <c:v>50</c:v>
                </c:pt>
                <c:pt idx="9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naver.com/rmxprjdklyh/224295835725" TargetMode="External"/><Relationship Id="rId1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luelog.kr/102675" TargetMode="External"/><Relationship Id="rId1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blog.naver.com/wjdgywns4076/224296984258" TargetMode="External"/><Relationship Id="rId2" Type="http://schemas.openxmlformats.org/officeDocument/2006/relationships/hyperlink" Target="http://cafe.naver.com/ourman/392400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blog.naver.com/pywnjamiia/224294179562" TargetMode="External"/><Relationship Id="rId2" Type="http://schemas.openxmlformats.org/officeDocument/2006/relationships/hyperlink" Target="https://blog.naver.com/mkqdnowvcp/224295816652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naver.com/4uexact/224296978125" TargetMode="External"/><Relationship Id="rId3" Type="http://schemas.openxmlformats.org/officeDocument/2006/relationships/hyperlink" Target="http://cafe.naver.com/jun0730/77322" TargetMode="External"/><Relationship Id="rId1" Type="http://schemas.openxmlformats.org/officeDocument/2006/relationships/chart" Target="/ppt/charts/chart5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bluelog.kr/102675" TargetMode="External"/><Relationship Id="rId2" Type="http://schemas.openxmlformats.org/officeDocument/2006/relationships/hyperlink" Target="https://blog.naver.com/iawksc1/224296881748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blog.naver.com/rmxprjdklyh/224295835725" TargetMode="External"/><Relationship Id="rId2" Type="http://schemas.openxmlformats.org/officeDocument/2006/relationships/hyperlink" Target="https://blog.naver.com/wjdgywns4076/224296984258" TargetMode="External"/><Relationship Id="rId3" Type="http://schemas.openxmlformats.org/officeDocument/2006/relationships/hyperlink" Target="https://bluelog.kr/102675" TargetMode="External"/><Relationship Id="rId4" Type="http://schemas.openxmlformats.org/officeDocument/2006/relationships/hyperlink" Target="https://blog.naver.com/pywnjamiia/224294179562" TargetMode="External"/><Relationship Id="rId5" Type="http://schemas.openxmlformats.org/officeDocument/2006/relationships/hyperlink" Target="https://blog.naver.com/iawksc1/224296881748" TargetMode="External"/><Relationship Id="rId6" Type="http://schemas.openxmlformats.org/officeDocument/2006/relationships/hyperlink" Target="https://cafe.naver.com/jun0730/77322" TargetMode="External"/><Relationship Id="rId7" Type="http://schemas.openxmlformats.org/officeDocument/2006/relationships/hyperlink" Target="https://cafe.naver.com/ehdxks2/811563" TargetMode="External"/><Relationship Id="rId8" Type="http://schemas.openxmlformats.org/officeDocument/2006/relationships/hyperlink" Target="https://blog.naver.com/happydeal_/224296891356" TargetMode="Externa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9BB1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SAMSUNG APPLIANCE DAILY REVIEW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 가전 일일 후기 리포트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1097280" cy="54864"/>
          </a:xfrm>
          <a:prstGeom prst="rect">
            <a:avLst/>
          </a:prstGeom>
          <a:solidFill>
            <a:srgbClr val="5AA4D8"/>
          </a:solidFill>
          <a:ln w="12700">
            <a:solidFill>
              <a:srgbClr val="5AA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743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AA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2026-05-25 (어제)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B1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어제자 삼성 가전 후기 트렌드  ·  17개 세부 품목  ·  통합 122건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10927080" cy="1828800"/>
          </a:xfrm>
          <a:prstGeom prst="rect">
            <a:avLst/>
          </a:prstGeom>
          <a:solidFill>
            <a:srgbClr val="2A1416"/>
          </a:solidFill>
          <a:ln w="381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4114800"/>
            <a:ext cx="146304" cy="1828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251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데이터 한계 경고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47091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광고/체험단 의심 비중 62.3% (76 / 122)  —  임계치 50% 초과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51663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9C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자발 일반 소비자 후기는 약 38%(N=46)에 불과. 매트릭스상 긍정 우세는 마케팅 콘텐츠 다량 유입의 영향일 수 있으므로, 의사결정 시 '자발 후기 서브셋'의 톤을 별도로 검토하세요. 또한 에어컨 시공/B2B 사례 7건은 일반 가정 후기와 분리해 다룹니다.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7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 2026-05-26 KST  ·  harness samsung-appliance-daily-review  ·  designer report-designer agent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607040" y="635508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Samsung Appliance Daily Review  ·  2026-05-25  ·  report-designer agent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보기 — 종합 KPI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어제(2026-05-25) 0시–24시 기준  ·  통합 122건  ·  품목 중복 카운트 124행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97480" cy="1828800"/>
          </a:xfrm>
          <a:prstGeom prst="rect">
            <a:avLst/>
          </a:prstGeom>
          <a:solidFill>
            <a:srgbClr val="F3F4F6"/>
          </a:solidFill>
          <a:ln w="12700">
            <a:solidFill>
              <a:srgbClr val="B6BF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2697480" cy="91440"/>
          </a:xfrm>
          <a:prstGeom prst="rect">
            <a:avLst/>
          </a:prstGeom>
          <a:solidFill>
            <a:srgbClr val="B6BFC8"/>
          </a:solidFill>
          <a:ln w="12700">
            <a:solidFill>
              <a:srgbClr val="B6BF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02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수집 후기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94360" y="28346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 중복 제거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73552" y="1417320"/>
            <a:ext cx="2697480" cy="1828800"/>
          </a:xfrm>
          <a:prstGeom prst="rect">
            <a:avLst/>
          </a:prstGeom>
          <a:solidFill>
            <a:srgbClr val="FFF4E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73552" y="1417320"/>
            <a:ext cx="269748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16002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 의심 비중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10712" y="19659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62.3%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410712" y="28346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 / 122  ·  임계 초과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9904" y="1417320"/>
            <a:ext cx="2697480" cy="1828800"/>
          </a:xfrm>
          <a:prstGeom prst="rect">
            <a:avLst/>
          </a:prstGeom>
          <a:solidFill>
            <a:srgbClr val="E6F4F1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9904" y="1417320"/>
            <a:ext cx="2697480" cy="91440"/>
          </a:xfrm>
          <a:prstGeom prst="rect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27064" y="16002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최다 긍정 품목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27064" y="19659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7C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세탁기/건조기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227064" y="28346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긍정 13 / 부정 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06256" y="1417320"/>
            <a:ext cx="2697480" cy="182880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06256" y="1417320"/>
            <a:ext cx="269748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43416" y="16002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유일 부정 품목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043416" y="19659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김치냉장고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043416" y="28346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부정 1 (외부 자발)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520440"/>
            <a:ext cx="11274552" cy="1005840"/>
          </a:xfrm>
          <a:prstGeom prst="rect">
            <a:avLst/>
          </a:prstGeom>
          <a:solidFill>
            <a:srgbClr val="F3F4F6"/>
          </a:solidFill>
          <a:ln w="12700">
            <a:solidFill>
              <a:srgbClr val="B6BFC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520440"/>
            <a:ext cx="109728" cy="1005840"/>
          </a:xfrm>
          <a:prstGeom prst="rect">
            <a:avLst/>
          </a:prstGeom>
          <a:solidFill>
            <a:srgbClr val="0E5680"/>
          </a:solidFill>
          <a:ln w="12700">
            <a:solidFill>
              <a:srgbClr val="0E56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3611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트렌드 한 줄 요약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1520" y="3931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디자인·AI·1등급 에너지 효율이 카테고리 전반의 긍정 키워드로 일관 등장하나, 가격 부담(7회)·소음(3회)이 청소기·에어컨·식기세척기에서 누적 신호로 관찰됨.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709160"/>
          <a:ext cx="1127455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346704"/>
                <a:gridCol w="2286000"/>
                <a:gridCol w="3346704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긍정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779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혼합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근거부족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 (B2B 7 포함)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B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1" name="Chart 0" descr=""/>
          <p:cNvGraphicFramePr/>
          <p:nvPr/>
        </p:nvGraphicFramePr>
        <p:xfrm>
          <a:off x="8686800" y="5715000"/>
          <a:ext cx="60960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Text 28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Samsung Appliance Daily Review  ·  2026-05-25  ·  report-designer agent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트렌드 — 3대 인사이트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17개 품목 124행을 카테고리·키워드·신호 관점에서 종합.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657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6BF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3657600" cy="548640"/>
          </a:xfrm>
          <a:prstGeom prst="rect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087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21945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긍정 키워드는 5개로 수렴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320040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디자인(15회)·AI(14회)·만족(13회)·무풍(10회)·1등급 에너지(9회) — 17개 품목 중 12개 이상에서 반복 등장. 세탁기/건조기·청소기·제습기가 부정 0건으로 가장 안정.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61104" y="1417320"/>
            <a:ext cx="3657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6BF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61104" y="1417320"/>
            <a:ext cx="3657600" cy="54864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43984" y="15087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489704" y="21945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6E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여름맞이 시즌 후기 동시 활성화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89704" y="320040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5월말 구매 시점에 맞춰 에어컨(10건)·제습기(6건)·공기청정기(4건) 후기 동시 등장. 무풍 키워드는 에어컨 8회 + 공기청정기 1회로 시즌 마케팅 영향이 큼.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65008" y="1417320"/>
            <a:ext cx="3657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6BF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65008" y="1417320"/>
            <a:ext cx="3657600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47888" y="15087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293608" y="21945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부담이 카테고리 횡단 신호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93608" y="320040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혼합 후기 13건 중 가격 관련 언급 7건. 청소기 160만, 에어컨 200만 중후반, 김치냉장고 2,029,000원, 의류관리기 모두 프리미엄 가격 저항 공통 신호.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5680"/>
          </a:solidFill>
          <a:ln w="12700">
            <a:solidFill>
              <a:srgbClr val="0E56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Samsung Appliance Daily Review  ·  2026-05-25  ·  report-designer agent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65760"/>
            <a:ext cx="1097280" cy="320040"/>
          </a:xfrm>
          <a:prstGeom prst="rect">
            <a:avLst/>
          </a:prstGeom>
          <a:solidFill>
            <a:srgbClr val="0E5680"/>
          </a:solidFill>
          <a:ln w="12700">
            <a:solidFill>
              <a:srgbClr val="0E56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6576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TV / AV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5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TV / 영상·음향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세부 품목 · 통합 26건 · 광고 의심 비중이 높은 카테고리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세부 품목별 감성 분포</a:t>
            </a:r>
            <a:endParaRPr lang="en-US" sz="1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2194560"/>
          <a:ext cx="54864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263640" y="1828800"/>
            <a:ext cx="5468112" cy="1828800"/>
          </a:xfrm>
          <a:prstGeom prst="rect">
            <a:avLst/>
          </a:prstGeom>
          <a:solidFill>
            <a:srgbClr val="FFF4E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63640" y="1828800"/>
            <a:ext cx="91440" cy="1828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6520" y="19202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광고 의심 비중 집중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46520" y="224028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TV 80% (12/15) — 인용 시 광고 표시 없는 글 우선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모니터 50% (3/6) — 경고 임계 도달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사운드/오디오 100% (3/3) — 자발 0건, 판단 보류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프로젝터 0% — 자발 2건 (가격 합리성 호평)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63640" y="3749040"/>
            <a:ext cx="546811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6BF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63640" y="3749040"/>
            <a:ext cx="91440" cy="2468880"/>
          </a:xfrm>
          <a:prstGeom prst="rect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46520" y="38404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[긍정]  대표 인용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46520" y="416052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"65인치 Neo QLED 화질, 스탠드 디자인 마음에 들어 선택."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46520" y="48463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키워드 — Neo QLED 4회, 스탠드 디자인 3회, 4K 화질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46520" y="51206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7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혼합 단서 — 음향 호평 동시에 리모컨 버튼 배열 불편 1건</a:t>
            </a:r>
            <a:endParaRPr lang="en-US" sz="1100" dirty="0"/>
          </a:p>
        </p:txBody>
      </p:sp>
      <p:sp>
        <p:nvSpPr>
          <p:cNvPr id="20" name="Text 17">
            <a:hlinkClick r:id="rId2" tooltip=""/>
          </p:cNvPr>
          <p:cNvSpPr/>
          <p:nvPr/>
        </p:nvSpPr>
        <p:spPr>
          <a:xfrm>
            <a:off x="6446520" y="58521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1F62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출처: blog.naver.com/rmxprjdklyh/224295835725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C5A2E"/>
          </a:solidFill>
          <a:ln w="12700">
            <a:solidFill>
              <a:srgbClr val="8C5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Samsung Appliance Daily Review  ·  2026-05-25  ·  report-designer agent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65760"/>
            <a:ext cx="1097280" cy="320040"/>
          </a:xfrm>
          <a:prstGeom prst="rect">
            <a:avLst/>
          </a:prstGeom>
          <a:solidFill>
            <a:srgbClr val="8C5A2E"/>
          </a:solidFill>
          <a:ln w="12700">
            <a:solidFill>
              <a:srgbClr val="8C5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6576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KITCHEN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5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주방가전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7개 세부 품목 · 통합 41건 · 김치냉장고 부정 1건 (외부 자발 후기)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세부 품목별 감성 분포</a:t>
            </a:r>
            <a:endParaRPr lang="en-US" sz="1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2194560"/>
          <a:ext cx="54864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263640" y="1828800"/>
            <a:ext cx="5468112" cy="1828800"/>
          </a:xfrm>
          <a:prstGeom prst="rect">
            <a:avLst/>
          </a:prstGeom>
          <a:solidFill>
            <a:srgbClr val="FFF4E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63640" y="1828800"/>
            <a:ext cx="91440" cy="1828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6520" y="19202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광고 의심 — 냉장고·김치냉장고 집중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46520" y="224028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냉장고 85% (11/13), 김치냉장고 71% (5/7)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전자레인지 100% (2/2) — net12483 다중 게재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큐커 5건 중 2건 practicalit 다중 게재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광고 표시 없는 글 우선 채택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63640" y="3749040"/>
            <a:ext cx="5468112" cy="246888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63640" y="3749040"/>
            <a:ext cx="91440" cy="2468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46520" y="38404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[부정]  김치냉장고 — 외부 도메인 자발 후기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46520" y="420624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"삼성 김치냉장고는 한국 가정 필수. 가장 의심되는 것은 실링. 삼성 비스포크 1도어 사용 사례."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46520" y="52120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외부 도메인(bluelog.kr) 단일 보고  ·  광고 채널 아닌 자발 톤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46520" y="54864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다음 회차 실링/성에 키워드 누적 모니터링 권고</a:t>
            </a:r>
            <a:endParaRPr lang="en-US" sz="1100" dirty="0"/>
          </a:p>
        </p:txBody>
      </p:sp>
      <p:sp>
        <p:nvSpPr>
          <p:cNvPr id="20" name="Text 17">
            <a:hlinkClick r:id="rId2" tooltip=""/>
          </p:cNvPr>
          <p:cNvSpPr/>
          <p:nvPr/>
        </p:nvSpPr>
        <p:spPr>
          <a:xfrm>
            <a:off x="6446520" y="58521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1F62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출처: bluelog.kr/102675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C5A2E"/>
          </a:solidFill>
          <a:ln w="12700">
            <a:solidFill>
              <a:srgbClr val="8C5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Samsung Appliance Daily Review  ·  2026-05-25  ·  report-designer agent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65760"/>
            <a:ext cx="1097280" cy="320040"/>
          </a:xfrm>
          <a:prstGeom prst="rect">
            <a:avLst/>
          </a:prstGeom>
          <a:solidFill>
            <a:srgbClr val="8C5A2E"/>
          </a:solidFill>
          <a:ln w="12700">
            <a:solidFill>
              <a:srgbClr val="8C5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6576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KITCHEN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냉장고 — 비스포크 4도어가 끌어올린 긍정 11/13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1371600" cy="822960"/>
          </a:xfrm>
          <a:prstGeom prst="rect">
            <a:avLst/>
          </a:prstGeom>
          <a:solidFill>
            <a:srgbClr val="F3F4F6"/>
          </a:solidFill>
          <a:ln w="12700">
            <a:solidFill>
              <a:srgbClr val="B6BF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002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긍정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920240" y="1554480"/>
            <a:ext cx="1371600" cy="822960"/>
          </a:xfrm>
          <a:prstGeom prst="rect">
            <a:avLst/>
          </a:prstGeom>
          <a:solidFill>
            <a:srgbClr val="F3F4F6"/>
          </a:solidFill>
          <a:ln w="12700">
            <a:solidFill>
              <a:srgbClr val="B6BF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16002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65960" y="18288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383280" y="1554480"/>
            <a:ext cx="1371600" cy="822960"/>
          </a:xfrm>
          <a:prstGeom prst="rect">
            <a:avLst/>
          </a:prstGeom>
          <a:solidFill>
            <a:srgbClr val="F3F4F6"/>
          </a:solidFill>
          <a:ln w="12700">
            <a:solidFill>
              <a:srgbClr val="B6BF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6002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혼합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18288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77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846320" y="1554480"/>
            <a:ext cx="1371600" cy="822960"/>
          </a:xfrm>
          <a:prstGeom prst="rect">
            <a:avLst/>
          </a:prstGeom>
          <a:solidFill>
            <a:srgbClr val="F3F4F6"/>
          </a:solidFill>
          <a:ln w="12700">
            <a:solidFill>
              <a:srgbClr val="B6BF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6002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 의심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8288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00800" y="15544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키워드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18288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4도어  ·  키친핏(3회)  ·  코타화이트/에센셜화이트(4회)  ·  AI  ·  UV 탈취  ·  1등급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2651760"/>
            <a:ext cx="5623560" cy="1371600"/>
          </a:xfrm>
          <a:prstGeom prst="rect">
            <a:avLst/>
          </a:prstGeom>
          <a:solidFill>
            <a:srgbClr val="E6F4F1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651760"/>
            <a:ext cx="91440" cy="1371600"/>
          </a:xfrm>
          <a:prstGeom prst="rect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6974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긍정 요약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297180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4도어 대용량·색상(코타/에센셜 화이트)·AI 기능·1등급 효율 만족이 광범위.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63640" y="2651760"/>
            <a:ext cx="5468112" cy="1371600"/>
          </a:xfrm>
          <a:prstGeom prst="rect">
            <a:avLst/>
          </a:prstGeom>
          <a:solidFill>
            <a:srgbClr val="FFF4E5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2651760"/>
            <a:ext cx="91440" cy="137160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26974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7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혼합 요약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297180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비스포크 조합 만족 중에서도 '간혹 이상한 소리' 후기 1건 (ourman 카페).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4297680"/>
            <a:ext cx="56235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6BFC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297680"/>
            <a:ext cx="91440" cy="2011680"/>
          </a:xfrm>
          <a:prstGeom prst="rect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37083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[긍정]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461772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"4도어, 키친핏 MAX, UV 탈취, AI 냉장고. 에너지 효율 1등급 만족."</a:t>
            </a:r>
            <a:endParaRPr lang="en-US" sz="1400" dirty="0"/>
          </a:p>
        </p:txBody>
      </p:sp>
      <p:sp>
        <p:nvSpPr>
          <p:cNvPr id="33" name="Text 31">
            <a:hlinkClick r:id="rId1" tooltip=""/>
          </p:cNvPr>
          <p:cNvSpPr/>
          <p:nvPr/>
        </p:nvSpPr>
        <p:spPr>
          <a:xfrm>
            <a:off x="640080" y="58978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1F62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출처: blog.naver.com/wjdgywns4076/224296984258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63640" y="4297680"/>
            <a:ext cx="546811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6BFC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63640" y="4297680"/>
            <a:ext cx="91440" cy="201168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437083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7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[혼합]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46520" y="461772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"비스포크 조합. 다만 간혹 '이상한 소리' 후기. 대부분 문제없음."</a:t>
            </a:r>
            <a:endParaRPr lang="en-US" sz="1400" dirty="0"/>
          </a:p>
        </p:txBody>
      </p:sp>
      <p:sp>
        <p:nvSpPr>
          <p:cNvPr id="38" name="Text 36">
            <a:hlinkClick r:id="rId2" tooltip=""/>
          </p:cNvPr>
          <p:cNvSpPr/>
          <p:nvPr/>
        </p:nvSpPr>
        <p:spPr>
          <a:xfrm>
            <a:off x="6446520" y="58978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1F62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출처: cafe.naver.com/ourman/392400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Samsung Appliance Daily Review  ·  2026-05-25  ·  report-designer agent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65760"/>
            <a:ext cx="1097280" cy="32004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6576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6E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리빙가전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7개 세부 품목 · 통합 57건 · 세탁기/건조기 부정 0 · 에어컨 시공 7건 별도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세부 품목별 감성 분포 (시공/B2B 제외)</a:t>
            </a:r>
            <a:endParaRPr lang="en-US" sz="1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2194560"/>
          <a:ext cx="54864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263640" y="1828800"/>
            <a:ext cx="5468112" cy="2011680"/>
          </a:xfrm>
          <a:prstGeom prst="rect">
            <a:avLst/>
          </a:prstGeom>
          <a:solidFill>
            <a:srgbClr val="E6F4F1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63640" y="1828800"/>
            <a:ext cx="91440" cy="2011680"/>
          </a:xfrm>
          <a:prstGeom prst="rect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6520" y="19202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가장 안정적인 카테고리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46520" y="224028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세탁기/건조기 13/13 모두 긍정 — AI콤보 6회·25kg/대용량 4회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청소기 11/12 긍정 — 280W/400W 흡입력 4회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제습기 6/6 긍정 — 18L·장마철 필수 키워드 일관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63640" y="3931920"/>
            <a:ext cx="5468112" cy="2286000"/>
          </a:xfrm>
          <a:prstGeom prst="rect">
            <a:avLst/>
          </a:prstGeom>
          <a:solidFill>
            <a:srgbClr val="EAF2EC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63640" y="3931920"/>
            <a:ext cx="91440" cy="228600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46520" y="40233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6E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⚙ 에어컨 시공/B2B 분리 — 7건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46520" y="434340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감성 라벨 미부여 (근거 부족 7) — 일반 가정 후기 매트릭스와 별도 행으로 분리 카운트.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호반베르디움 등 신축 단지 시공 톤이 다수, B2B 영업 관점에서 별도 모니터링 권고.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일반(긍정 7/혼합 3)과 합산해 '에어컨 전반 긍정 우세'로 해석 금지.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Samsung Appliance Daily Review  ·  2026-05-25  ·  report-designer agent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65760"/>
            <a:ext cx="1097280" cy="32004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6576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세탁기/건조기 — AI콤보·대용량이 끌어낸 부정 0건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1371600" cy="822960"/>
          </a:xfrm>
          <a:prstGeom prst="rect">
            <a:avLst/>
          </a:prstGeom>
          <a:solidFill>
            <a:srgbClr val="F3F4F6"/>
          </a:solidFill>
          <a:ln w="12700">
            <a:solidFill>
              <a:srgbClr val="B6BF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002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긍정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920240" y="1554480"/>
            <a:ext cx="1371600" cy="822960"/>
          </a:xfrm>
          <a:prstGeom prst="rect">
            <a:avLst/>
          </a:prstGeom>
          <a:solidFill>
            <a:srgbClr val="F3F4F6"/>
          </a:solidFill>
          <a:ln w="12700">
            <a:solidFill>
              <a:srgbClr val="B6BF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16002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65960" y="18288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383280" y="1554480"/>
            <a:ext cx="1371600" cy="822960"/>
          </a:xfrm>
          <a:prstGeom prst="rect">
            <a:avLst/>
          </a:prstGeom>
          <a:solidFill>
            <a:srgbClr val="F3F4F6"/>
          </a:solidFill>
          <a:ln w="12700">
            <a:solidFill>
              <a:srgbClr val="B6BF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6002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혼합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18288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846320" y="1554480"/>
            <a:ext cx="1371600" cy="822960"/>
          </a:xfrm>
          <a:prstGeom prst="rect">
            <a:avLst/>
          </a:prstGeom>
          <a:solidFill>
            <a:srgbClr val="F3F4F6"/>
          </a:solidFill>
          <a:ln w="12700">
            <a:solidFill>
              <a:srgbClr val="B6BF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6002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 의심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8288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77%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00800" y="15544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키워드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18288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AI콤보(6회)  ·  25kg/대용량(4회)  ·  일체형 공간 절약  ·  AI+살균  ·  89분 쾌속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2651760"/>
            <a:ext cx="11274552" cy="1097280"/>
          </a:xfrm>
          <a:prstGeom prst="rect">
            <a:avLst/>
          </a:prstGeom>
          <a:solidFill>
            <a:srgbClr val="E6F4F1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651760"/>
            <a:ext cx="91440" cy="1097280"/>
          </a:xfrm>
          <a:prstGeom prst="rect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743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긍정 요약 — 카테고리 전체에서 가장 강한 일관 등장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30632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AI콤보·대용량(25kg)·공간 절약·세척력에 대한 만족이 카테고리 전체에서 가장 강하게 일관 등장. 부정/혼합 0건. 단 광고 의심 비중 77%로 자발 후기 3건만으로 트렌드 단정 주의.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023360"/>
            <a:ext cx="56235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6BF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023360"/>
            <a:ext cx="91440" cy="2286000"/>
          </a:xfrm>
          <a:prstGeom prst="rect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09651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[긍정]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4343400"/>
            <a:ext cx="5394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"대용량·일체형 공간 절약. AI+살균 기능으로 냄새/곰팡이 없음."</a:t>
            </a:r>
            <a:endParaRPr lang="en-US" sz="1400" dirty="0"/>
          </a:p>
        </p:txBody>
      </p:sp>
      <p:sp>
        <p:nvSpPr>
          <p:cNvPr id="29" name="Text 27">
            <a:hlinkClick r:id="rId1" tooltip=""/>
          </p:cNvPr>
          <p:cNvSpPr/>
          <p:nvPr/>
        </p:nvSpPr>
        <p:spPr>
          <a:xfrm>
            <a:off x="640080" y="58978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1F62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출처: blog.naver.com/pywnjamiia/224294179562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63640" y="4023360"/>
            <a:ext cx="546811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6BFC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63640" y="4023360"/>
            <a:ext cx="91440" cy="2286000"/>
          </a:xfrm>
          <a:prstGeom prst="rect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409651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[긍정]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46520" y="434340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"세탁25kg+건조15kg. 공간 활용·세척력 만족. 미세먼지도 잘 잡음."</a:t>
            </a:r>
            <a:endParaRPr lang="en-US" sz="1400" dirty="0"/>
          </a:p>
        </p:txBody>
      </p:sp>
      <p:sp>
        <p:nvSpPr>
          <p:cNvPr id="34" name="Text 32">
            <a:hlinkClick r:id="rId2" tooltip=""/>
          </p:cNvPr>
          <p:cNvSpPr/>
          <p:nvPr/>
        </p:nvSpPr>
        <p:spPr>
          <a:xfrm>
            <a:off x="6446520" y="58978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1F62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출처: blog.naver.com/mkqdnowvcp/224295816652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Samsung Appliance Daily Review  ·  2026-05-25  ·  report-designer agent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65760"/>
            <a:ext cx="1097280" cy="32004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6576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에어컨(일반) — 무풍 호평과 가격 인상 우려 공존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1371600" cy="822960"/>
          </a:xfrm>
          <a:prstGeom prst="rect">
            <a:avLst/>
          </a:prstGeom>
          <a:solidFill>
            <a:srgbClr val="F3F4F6"/>
          </a:solidFill>
          <a:ln w="12700">
            <a:solidFill>
              <a:srgbClr val="B6BF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002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긍정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920240" y="1554480"/>
            <a:ext cx="1371600" cy="822960"/>
          </a:xfrm>
          <a:prstGeom prst="rect">
            <a:avLst/>
          </a:prstGeom>
          <a:solidFill>
            <a:srgbClr val="F3F4F6"/>
          </a:solidFill>
          <a:ln w="12700">
            <a:solidFill>
              <a:srgbClr val="B6BF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16002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65960" y="18288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383280" y="1554480"/>
            <a:ext cx="1371600" cy="822960"/>
          </a:xfrm>
          <a:prstGeom prst="rect">
            <a:avLst/>
          </a:prstGeom>
          <a:solidFill>
            <a:srgbClr val="F3F4F6"/>
          </a:solidFill>
          <a:ln w="12700">
            <a:solidFill>
              <a:srgbClr val="B6BF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6002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혼합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18288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77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846320" y="1554480"/>
            <a:ext cx="1371600" cy="822960"/>
          </a:xfrm>
          <a:prstGeom prst="rect">
            <a:avLst/>
          </a:prstGeom>
          <a:solidFill>
            <a:srgbClr val="F3F4F6"/>
          </a:solidFill>
          <a:ln w="12700">
            <a:solidFill>
              <a:srgbClr val="B6BF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6002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 의심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8288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00800" y="15544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키워드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18288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긍정: 무풍(8회) · AI 맞춤(2회) · 창문형 무풍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혼합: 가격 200만 중후반대(2회) · 가격 인상 우려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2651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긍정/혼합 비율</a:t>
            </a:r>
            <a:endParaRPr lang="en-US" sz="13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457200" y="2926080"/>
          <a:ext cx="54864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Shape 20"/>
          <p:cNvSpPr/>
          <p:nvPr/>
        </p:nvSpPr>
        <p:spPr>
          <a:xfrm>
            <a:off x="6263640" y="2651760"/>
            <a:ext cx="546811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6BF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651760"/>
            <a:ext cx="91440" cy="1828800"/>
          </a:xfrm>
          <a:prstGeom prst="rect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46520" y="272491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[긍정]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46520" y="301752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"조용하고 에너지 절약. 무풍 기술로 쾌적."</a:t>
            </a:r>
            <a:endParaRPr lang="en-US" sz="1400" dirty="0"/>
          </a:p>
        </p:txBody>
      </p:sp>
      <p:sp>
        <p:nvSpPr>
          <p:cNvPr id="27" name="Text 24">
            <a:hlinkClick r:id="rId2" tooltip=""/>
          </p:cNvPr>
          <p:cNvSpPr/>
          <p:nvPr/>
        </p:nvSpPr>
        <p:spPr>
          <a:xfrm>
            <a:off x="6446520" y="4114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1F62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출처: blog.naver.com/4uexact/224296978125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263640" y="4572000"/>
            <a:ext cx="5468112" cy="1737360"/>
          </a:xfrm>
          <a:prstGeom prst="rect">
            <a:avLst/>
          </a:prstGeom>
          <a:solidFill>
            <a:srgbClr val="FFF4E5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63640" y="4572000"/>
            <a:ext cx="91440" cy="173736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46520" y="464515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7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[혼합]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446520" y="493776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"AI Q9000 인버터 2in1 멀티형. 프리미엄 비스포크 무풍은 가격대 200만 중후반대."</a:t>
            </a:r>
            <a:endParaRPr lang="en-US" sz="1300" dirty="0"/>
          </a:p>
        </p:txBody>
      </p:sp>
      <p:sp>
        <p:nvSpPr>
          <p:cNvPr id="32" name="Text 29">
            <a:hlinkClick r:id="rId3" tooltip=""/>
          </p:cNvPr>
          <p:cNvSpPr/>
          <p:nvPr/>
        </p:nvSpPr>
        <p:spPr>
          <a:xfrm>
            <a:off x="6446520" y="59893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1F62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출처: cafe.naver.com/jun0730/77322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Samsung Appliance Daily Review  ·  2026-05-25  ·  report-designer agent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65760"/>
            <a:ext cx="210312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657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강조 박스 1 / NEGATIVE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부정·우려 신호 — 단건이지만 자발 채널 비중 높아 추적 필요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매트릭스상 부정 1건뿐이지만 자발 채널에서 발생 + 혼합 후기에서 동반 키워드 등장.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623560" cy="4480560"/>
          </a:xfrm>
          <a:prstGeom prst="rect">
            <a:avLst/>
          </a:prstGeom>
          <a:solidFill>
            <a:srgbClr val="FDECEA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62356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7452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김치냉장고 — 실링 의심 / 성에 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5349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"삼성 김치냉장고는 한국 가정 필수. 가장 의심되는 것은 실링. 삼성 비스포크 1도어 사용 사례."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5349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출처: bluelog.kr/102675 (외부 도메인 자발 후기)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광고 채널이 아닌 자발 톤 — 신호값 높음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단일 보고이나 AS/장기 사용 사례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다음 회차 누적 모니터링 자동 알림 등록 권고</a:t>
            </a:r>
            <a:endParaRPr lang="en-US" sz="1200" dirty="0"/>
          </a:p>
        </p:txBody>
      </p:sp>
      <p:sp>
        <p:nvSpPr>
          <p:cNvPr id="13" name="Text 11">
            <a:hlinkClick r:id="rId1" tooltip=""/>
          </p:cNvPr>
          <p:cNvSpPr/>
          <p:nvPr/>
        </p:nvSpPr>
        <p:spPr>
          <a:xfrm>
            <a:off x="640080" y="594360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1F62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출처: bluelog.kr/102675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63640" y="1828800"/>
            <a:ext cx="5468112" cy="4480560"/>
          </a:xfrm>
          <a:prstGeom prst="rect">
            <a:avLst/>
          </a:prstGeom>
          <a:solidFill>
            <a:srgbClr val="FFF4E5"/>
          </a:solidFill>
          <a:ln w="19050">
            <a:solidFill>
              <a:srgbClr val="B779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828800"/>
            <a:ext cx="5468112" cy="45720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8745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식기세척기 — 소음 / 세제 선택 (혼합)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46520" y="246888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"소음과 세제 선택 주의 필요. 효율과 내구성 만족. 1등급 에너지."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3840480"/>
            <a:ext cx="5212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매트릭스상 '혼합'으로 분류된 단서이나 부정 신호 동반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냉장고 '이상한 소리' 1건과 합쳐 소음 키워드 3회 누적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단건이지만 김치냉장고 부정 1건과 함께 추적 권고</a:t>
            </a:r>
            <a:endParaRPr lang="en-US" sz="1200" dirty="0"/>
          </a:p>
        </p:txBody>
      </p:sp>
      <p:sp>
        <p:nvSpPr>
          <p:cNvPr id="19" name="Text 17">
            <a:hlinkClick r:id="rId2" tooltip=""/>
          </p:cNvPr>
          <p:cNvSpPr/>
          <p:nvPr/>
        </p:nvSpPr>
        <p:spPr>
          <a:xfrm>
            <a:off x="6446520" y="59436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1F62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출처: blog.naver.com/iawksc1/224296881748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Samsung Appliance Daily Review  ·  2026-05-25  ·  report-designer agent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65760"/>
            <a:ext cx="2103120" cy="32004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657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강조 박스 2 / MIXED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혼합 후기 13건 — 가격 부담이 카테고리 횡단 공통 주제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혼합 키워드 빈도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2011680"/>
          <a:ext cx="5486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263640" y="1691640"/>
            <a:ext cx="5468112" cy="4617720"/>
          </a:xfrm>
          <a:prstGeom prst="rect">
            <a:avLst/>
          </a:prstGeom>
          <a:solidFill>
            <a:srgbClr val="FFF4E5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63640" y="1691640"/>
            <a:ext cx="91440" cy="461772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46520" y="17830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부담 — 7회 횡단 등장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46520" y="2148840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청소기 160만원대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에어컨 200만 중후반대 (가격 인상 우려 동반)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김치냉장고 2,029,000원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의류관리기 진입 장벽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46520" y="37033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기타 누적 신호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46520" y="402336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소음/이상한 소리 3회 — 식기세척기·냉장고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리모컨/버튼 불편 1회 — TV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빌트인 설치 공간 애매 1회 — 인덕션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고사양 작업 부족 1회 — 모니터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46520" y="5715000"/>
            <a:ext cx="5120640" cy="50292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92240" y="5715000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프리미엄 가격 저항 → 할인·금융·렌탈 메시지 검토 권고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Samsung Appliance Daily Review  ·  2026-05-25  ·  report-designer agent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긍정 키워드 빈도 TOP 10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 무관, 발췌문 등장 횟수 기준 — 디자인·AI·만족이 카테고리 횡단 공통 키워드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508760"/>
          <a:ext cx="11274552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Samsung Appliance Daily Review  ·  2026-05-25  ·  report-designer agent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65760"/>
            <a:ext cx="210312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657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WARNING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 의심 비중 — 카테고리별 분포 및 다중 게재 작성자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품목별 광고 의심 비중 (%)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2011680"/>
          <a:ext cx="5486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263640" y="1691640"/>
            <a:ext cx="5468112" cy="4617720"/>
          </a:xfrm>
          <a:prstGeom prst="rect">
            <a:avLst/>
          </a:prstGeom>
          <a:solidFill>
            <a:srgbClr val="FFF4E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63640" y="1691640"/>
            <a:ext cx="91440" cy="4617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46520" y="17830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다중 게재 작성자 (수집 단계 필터 권고)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46520" y="219456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practicalit  ·  큐커 2건 (같은 시리즈 단기 다수)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net12483  ·  전자레인지 2건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samsunggyeongsan  ·  냉장고 패널 시공 2건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maplestorycafe1099  ·  TV 3건 + 청소기 1건 (카페 전체 체험단 톤)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ourman  ·  냉장고·세탁기·청소기 횡단 다수 게재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iulovelovelovelove  ·  김치냉장고 + 청소기 패드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46520" y="5120640"/>
            <a:ext cx="512064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5120640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사전 필터링으로 자발 후기 비중 50% 이상 회복 목표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46520" y="576072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자발 후기 N=46 서브셋의 톤이 매트릭스 긍정 우세와 다를 수 있음을 항상 인지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Samsung Appliance Daily Review  ·  2026-05-25  ·  report-designer agent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및 주의사항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 해석 시 반드시 함께 검토할 5개 항목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1274552" cy="868680"/>
          </a:xfrm>
          <a:prstGeom prst="rect">
            <a:avLst/>
          </a:prstGeom>
          <a:solidFill>
            <a:srgbClr val="F3F4F6"/>
          </a:solidFill>
          <a:ln w="12700">
            <a:solidFill>
              <a:srgbClr val="B6BF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91440" cy="868680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37360"/>
            <a:ext cx="502920" cy="502920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1645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출처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1965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블로그 87건 + 일반 웹/카페/공식몰 35건. 어제(2026-05-25) 게시물 한정.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11274552" cy="868680"/>
          </a:xfrm>
          <a:prstGeom prst="rect">
            <a:avLst/>
          </a:prstGeom>
          <a:solidFill>
            <a:srgbClr val="F3F4F6"/>
          </a:solidFill>
          <a:ln w="12700">
            <a:solidFill>
              <a:srgbClr val="B6BF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514600"/>
            <a:ext cx="91440" cy="868680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697480"/>
            <a:ext cx="502920" cy="502920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2606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광고성/체험단 포함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2926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매트릭스 카운트에는 포함하되 인용 선정 시 광고 표시 없는 글 우선. 광고 의심 비중 62.3%로 임계 초과.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11274552" cy="868680"/>
          </a:xfrm>
          <a:prstGeom prst="rect">
            <a:avLst/>
          </a:prstGeom>
          <a:solidFill>
            <a:srgbClr val="F3F4F6"/>
          </a:solidFill>
          <a:ln w="12700">
            <a:solidFill>
              <a:srgbClr val="B6BF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474720"/>
            <a:ext cx="91440" cy="868680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657600"/>
            <a:ext cx="502920" cy="502920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3566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B2B/시공 사례 분리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3886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에어컨 시공 7건은 별도 행으로 분리 카운트. 일반 가정 후기와 합산 해석 금지.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11274552" cy="868680"/>
          </a:xfrm>
          <a:prstGeom prst="rect">
            <a:avLst/>
          </a:prstGeom>
          <a:solidFill>
            <a:srgbClr val="F3F4F6"/>
          </a:solidFill>
          <a:ln w="12700">
            <a:solidFill>
              <a:srgbClr val="B6BF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434840"/>
            <a:ext cx="91440" cy="868680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4617720"/>
            <a:ext cx="502920" cy="502920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617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25880" y="4526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표본이 작은 품목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25880" y="4846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사운드/오디오·프로젝터·정수기·전자레인지(각 2~3건)는 표본 작아 추세 단정 불가. 다음 회차 키워드 확장 권고.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5394960"/>
            <a:ext cx="11274552" cy="868680"/>
          </a:xfrm>
          <a:prstGeom prst="rect">
            <a:avLst/>
          </a:prstGeom>
          <a:solidFill>
            <a:srgbClr val="F3F4F6"/>
          </a:solidFill>
          <a:ln w="12700">
            <a:solidFill>
              <a:srgbClr val="B6BFC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5394960"/>
            <a:ext cx="91440" cy="868680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" y="5577840"/>
            <a:ext cx="502920" cy="502920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5577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325880" y="54864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도메인 부정 1건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325880" y="5806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김치냉장고 부정은 bluelog.kr 단일 출처. 동일 키워드 누적 여부 다음 회차 추적 필요.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5680"/>
          </a:solidFill>
          <a:ln w="12700">
            <a:solidFill>
              <a:srgbClr val="0E56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Samsung Appliance Daily Review  ·  2026-05-25  ·  report-designer agent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회차 권고 — 4개 액션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한계를 다음 회차 수집 단계에서 직접 보완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97480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2697480" cy="731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 의심 비중 축소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2331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작성자 다중 게재 패턴 6명을 수집 단계에서 사전 필터링. 자발 후기 비중 50% 이상 회복 목표.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73552" y="1554480"/>
            <a:ext cx="2697480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E56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73552" y="1554480"/>
            <a:ext cx="2697480" cy="731520"/>
          </a:xfrm>
          <a:prstGeom prst="rect">
            <a:avLst/>
          </a:prstGeom>
          <a:solidFill>
            <a:srgbClr val="0E5680"/>
          </a:solidFill>
          <a:ln w="12700">
            <a:solidFill>
              <a:srgbClr val="0E56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3552" y="155448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456432" y="246888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5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표본 작은 품목 보강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56432" y="3566160"/>
            <a:ext cx="2331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사운드/오디오·프로젝터·정수기·전자레인지 카테고리 검색 키워드(시리즈명·모델명) 확장 검토.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89904" y="1554480"/>
            <a:ext cx="2697480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9904" y="1554480"/>
            <a:ext cx="2697480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9904" y="155448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272784" y="246888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부정 키워드 누적 모니터링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272784" y="3566160"/>
            <a:ext cx="2331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김치냉장고 실링/성에, 식기세척기 소음, 냉장고 이상한 소리, 청소기·에어컨 가격 부담을 자동 알림 등록.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906256" y="1554480"/>
            <a:ext cx="2697480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C6E4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06256" y="1554480"/>
            <a:ext cx="2697480" cy="73152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06256" y="155448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9089136" y="246888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6E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시공/B2B 별도 트랙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089136" y="3566160"/>
            <a:ext cx="2331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에어컨 시공 사례가 일반 후기와 섞이지 않도록 수집 단계에서 분리 라벨링.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AA4D8"/>
          </a:solidFill>
          <a:ln w="12700">
            <a:solidFill>
              <a:srgbClr val="5AA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— 출처·수집 메모·문서 정보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B1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Samsung Appliance Daily Review  ·  2026-05-25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486400" cy="4572000"/>
          </a:xfrm>
          <a:prstGeom prst="rect">
            <a:avLst/>
          </a:prstGeom>
          <a:solidFill>
            <a:srgbClr val="1A2530"/>
          </a:solidFill>
          <a:ln w="12700">
            <a:solidFill>
              <a:srgbClr val="2A3B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A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 — 주요 인용 출처 (대표)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C1A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긍정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25880" y="22402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6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TV</a:t>
            </a:r>
            <a:endParaRPr lang="en-US" sz="100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2560320" y="2240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9BC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blog.naver.com/rmxprjdklyh/224295835725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C1A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긍정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25880" y="2697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6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냉장고</a:t>
            </a:r>
            <a:endParaRPr lang="en-US" sz="1000" dirty="0"/>
          </a:p>
        </p:txBody>
      </p:sp>
      <p:sp>
        <p:nvSpPr>
          <p:cNvPr id="12" name="Text 10">
            <a:hlinkClick r:id="rId2" tooltip=""/>
          </p:cNvPr>
          <p:cNvSpPr/>
          <p:nvPr/>
        </p:nvSpPr>
        <p:spPr>
          <a:xfrm>
            <a:off x="2560320" y="2697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9BC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blog.naver.com/wjdgywns4076/224296984258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154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부정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25880" y="3154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6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김치냉장고</a:t>
            </a:r>
            <a:endParaRPr lang="en-US" sz="1000" dirty="0"/>
          </a:p>
        </p:txBody>
      </p:sp>
      <p:sp>
        <p:nvSpPr>
          <p:cNvPr id="15" name="Text 13">
            <a:hlinkClick r:id="rId3" tooltip=""/>
          </p:cNvPr>
          <p:cNvSpPr/>
          <p:nvPr/>
        </p:nvSpPr>
        <p:spPr>
          <a:xfrm>
            <a:off x="2560320" y="3154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9BC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bluelog.kr/102675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3611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C1A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긍정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25880" y="3611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6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세탁기/건조기</a:t>
            </a:r>
            <a:endParaRPr lang="en-US" sz="1000" dirty="0"/>
          </a:p>
        </p:txBody>
      </p:sp>
      <p:sp>
        <p:nvSpPr>
          <p:cNvPr id="18" name="Text 16">
            <a:hlinkClick r:id="rId4" tooltip=""/>
          </p:cNvPr>
          <p:cNvSpPr/>
          <p:nvPr/>
        </p:nvSpPr>
        <p:spPr>
          <a:xfrm>
            <a:off x="2560320" y="3611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9BC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blog.naver.com/pywnjamiia/224294179562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4069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B8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혼합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25880" y="4069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6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식기세척기</a:t>
            </a:r>
            <a:endParaRPr lang="en-US" sz="1000" dirty="0"/>
          </a:p>
        </p:txBody>
      </p:sp>
      <p:sp>
        <p:nvSpPr>
          <p:cNvPr id="21" name="Text 19">
            <a:hlinkClick r:id="rId5" tooltip=""/>
          </p:cNvPr>
          <p:cNvSpPr/>
          <p:nvPr/>
        </p:nvSpPr>
        <p:spPr>
          <a:xfrm>
            <a:off x="2560320" y="4069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9BC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blog.naver.com/iawksc1/224296881748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45262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B8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혼합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25880" y="45262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6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에어컨(일반)</a:t>
            </a:r>
            <a:endParaRPr lang="en-US" sz="1000" dirty="0"/>
          </a:p>
        </p:txBody>
      </p:sp>
      <p:sp>
        <p:nvSpPr>
          <p:cNvPr id="24" name="Text 22">
            <a:hlinkClick r:id="rId6" tooltip=""/>
          </p:cNvPr>
          <p:cNvSpPr/>
          <p:nvPr/>
        </p:nvSpPr>
        <p:spPr>
          <a:xfrm>
            <a:off x="2560320" y="4526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9BC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cafe.naver.com/jun0730/77322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" y="4983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B1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325880" y="4983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6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에어컨(시공)</a:t>
            </a:r>
            <a:endParaRPr lang="en-US" sz="1000" dirty="0"/>
          </a:p>
        </p:txBody>
      </p:sp>
      <p:sp>
        <p:nvSpPr>
          <p:cNvPr id="27" name="Text 25">
            <a:hlinkClick r:id="rId7" tooltip=""/>
          </p:cNvPr>
          <p:cNvSpPr/>
          <p:nvPr/>
        </p:nvSpPr>
        <p:spPr>
          <a:xfrm>
            <a:off x="2560320" y="4983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9BC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cafe.naver.com/ehdxks2/811563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" y="5440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C1A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긍정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325880" y="5440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6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제습기</a:t>
            </a:r>
            <a:endParaRPr lang="en-US" sz="1000" dirty="0"/>
          </a:p>
        </p:txBody>
      </p:sp>
      <p:sp>
        <p:nvSpPr>
          <p:cNvPr id="30" name="Text 28">
            <a:hlinkClick r:id="rId8" tooltip=""/>
          </p:cNvPr>
          <p:cNvSpPr/>
          <p:nvPr/>
        </p:nvSpPr>
        <p:spPr>
          <a:xfrm>
            <a:off x="2560320" y="5440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9BC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blog.naver.com/happydeal_/224296891356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63640" y="1737360"/>
            <a:ext cx="5285232" cy="4572000"/>
          </a:xfrm>
          <a:prstGeom prst="rect">
            <a:avLst/>
          </a:prstGeom>
          <a:solidFill>
            <a:srgbClr val="1A2530"/>
          </a:solidFill>
          <a:ln w="12700">
            <a:solidFill>
              <a:srgbClr val="2A3B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1828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A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B — 수집 메모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46520" y="224028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9D6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수집 범위: 어제(2026-05-25) 게시 한정, 네이버 블로그 87 + 웹/카페/공식몰 35.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9D6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URL 중복 제거 122건. 동일 URL이 두 품목에 매핑되면 품목 카운트만 중복(124행), URL 합계는 1회.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9D6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광고 의심 76건(62.3%) — 임계치 초과로 표지에 경고 배너 부착.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9D6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에어컨 시공/B2B 7건은 별도 행으로 분리 카운트.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9D6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검토 통과본(final.md)을 입력으로 자동 디자인. 본문 추가/삭제/재해석 없음.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9D6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다음 회차 보강 영역: 자발 후기 비중·부정 키워드 시계열·B2B 분리 트랙.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46520" y="5806440"/>
            <a:ext cx="4937760" cy="411480"/>
          </a:xfrm>
          <a:prstGeom prst="rect">
            <a:avLst/>
          </a:prstGeom>
          <a:solidFill>
            <a:srgbClr val="1F2A38"/>
          </a:solidFill>
          <a:ln w="12700">
            <a:solidFill>
              <a:srgbClr val="2A3B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58064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B1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harness: samsung-appliance-daily-review  ·  agent: report-designer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16  ·  END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5AA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THANK YOU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삼성 가전 일일 후기 리포트 2026-05-25</dc:title>
  <dc:subject>Samsung Appliance Daily Review — auto generated</dc:subject>
  <dc:creator>PptxGenJS</dc:creator>
  <cp:lastModifiedBy>PptxGenJS</cp:lastModifiedBy>
  <cp:revision>1</cp:revision>
  <dcterms:created xsi:type="dcterms:W3CDTF">2026-05-26T08:42:46Z</dcterms:created>
  <dcterms:modified xsi:type="dcterms:W3CDTF">2026-05-26T08:42:46Z</dcterms:modified>
</cp:coreProperties>
</file>